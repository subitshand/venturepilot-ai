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6650" y="0"/>
            <a:ext cx="895350" cy="6858000"/>
          </a:xfrm>
          <a:custGeom>
            <a:avLst/>
            <a:gdLst/>
            <a:ahLst/>
            <a:cxnLst/>
            <a:rect l="l" t="t" r="r" b="b"/>
            <a:pathLst>
              <a:path w="895350" h="6858000">
                <a:moveTo>
                  <a:pt x="0" y="0"/>
                </a:moveTo>
                <a:lnTo>
                  <a:pt x="0" y="6858000"/>
                </a:lnTo>
                <a:lnTo>
                  <a:pt x="895349" y="6858000"/>
                </a:lnTo>
                <a:lnTo>
                  <a:pt x="895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509" y="252031"/>
            <a:ext cx="10598531" cy="880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4760" y="2593975"/>
            <a:ext cx="9484360" cy="216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ubitsha04@gmail.com" TargetMode="External"/><Relationship Id="rId3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venturepilot-ai.onrender.com/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ubitshaND/venturepilot-ai.git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04058" y="1464881"/>
            <a:ext cx="6813550" cy="140652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 marR="3175">
              <a:lnSpc>
                <a:spcPts val="7580"/>
              </a:lnSpc>
              <a:spcBef>
                <a:spcPts val="130"/>
              </a:spcBef>
            </a:pPr>
            <a:r>
              <a:rPr dirty="0" sz="6500" spc="-280" b="0">
                <a:latin typeface="Cambria"/>
                <a:cs typeface="Cambria"/>
              </a:rPr>
              <a:t>V</a:t>
            </a:r>
            <a:r>
              <a:rPr dirty="0" sz="6500" spc="240" b="0">
                <a:latin typeface="Cambria"/>
                <a:cs typeface="Cambria"/>
              </a:rPr>
              <a:t>e</a:t>
            </a:r>
            <a:r>
              <a:rPr dirty="0" sz="6500" spc="190" b="0">
                <a:latin typeface="Cambria"/>
                <a:cs typeface="Cambria"/>
              </a:rPr>
              <a:t>n</a:t>
            </a:r>
            <a:r>
              <a:rPr dirty="0" sz="6500" spc="215" b="0">
                <a:latin typeface="Cambria"/>
                <a:cs typeface="Cambria"/>
              </a:rPr>
              <a:t>t</a:t>
            </a:r>
            <a:r>
              <a:rPr dirty="0" sz="6500" spc="190" b="0">
                <a:latin typeface="Cambria"/>
                <a:cs typeface="Cambria"/>
              </a:rPr>
              <a:t>u</a:t>
            </a:r>
            <a:r>
              <a:rPr dirty="0" sz="6500" spc="235" b="0">
                <a:latin typeface="Cambria"/>
                <a:cs typeface="Cambria"/>
              </a:rPr>
              <a:t>r</a:t>
            </a:r>
            <a:r>
              <a:rPr dirty="0" sz="6500" spc="240" b="0">
                <a:latin typeface="Cambria"/>
                <a:cs typeface="Cambria"/>
              </a:rPr>
              <a:t>e</a:t>
            </a:r>
            <a:r>
              <a:rPr dirty="0" sz="6500" spc="210" b="0">
                <a:latin typeface="Cambria"/>
                <a:cs typeface="Cambria"/>
              </a:rPr>
              <a:t>P</a:t>
            </a:r>
            <a:r>
              <a:rPr dirty="0" sz="6500" spc="245" b="0">
                <a:latin typeface="Cambria"/>
                <a:cs typeface="Cambria"/>
              </a:rPr>
              <a:t>i</a:t>
            </a:r>
            <a:r>
              <a:rPr dirty="0" sz="6500" spc="185" b="0">
                <a:latin typeface="Cambria"/>
                <a:cs typeface="Cambria"/>
              </a:rPr>
              <a:t>l</a:t>
            </a:r>
            <a:r>
              <a:rPr dirty="0" sz="6500" spc="235" b="0">
                <a:latin typeface="Cambria"/>
                <a:cs typeface="Cambria"/>
              </a:rPr>
              <a:t>o</a:t>
            </a:r>
            <a:r>
              <a:rPr dirty="0" sz="6500" spc="280" b="0">
                <a:latin typeface="Cambria"/>
                <a:cs typeface="Cambria"/>
              </a:rPr>
              <a:t>t</a:t>
            </a:r>
            <a:r>
              <a:rPr dirty="0" sz="6500" spc="-95" b="0">
                <a:latin typeface="Cambria"/>
                <a:cs typeface="Cambria"/>
              </a:rPr>
              <a:t> </a:t>
            </a:r>
            <a:r>
              <a:rPr dirty="0" sz="6500" spc="490" b="0">
                <a:latin typeface="Cambria"/>
                <a:cs typeface="Cambria"/>
              </a:rPr>
              <a:t>AI</a:t>
            </a:r>
            <a:endParaRPr sz="6500">
              <a:latin typeface="Cambria"/>
              <a:cs typeface="Cambria"/>
            </a:endParaRPr>
          </a:p>
          <a:p>
            <a:pPr algn="ctr">
              <a:lnSpc>
                <a:spcPts val="3260"/>
              </a:lnSpc>
            </a:pPr>
            <a:r>
              <a:rPr dirty="0" sz="2900" spc="120" b="0">
                <a:latin typeface="Cambria"/>
                <a:cs typeface="Cambria"/>
              </a:rPr>
              <a:t>AI-</a:t>
            </a:r>
            <a:r>
              <a:rPr dirty="0" sz="2900" b="0">
                <a:latin typeface="Cambria"/>
                <a:cs typeface="Cambria"/>
              </a:rPr>
              <a:t>Powered</a:t>
            </a:r>
            <a:r>
              <a:rPr dirty="0" sz="2900" spc="135" b="0">
                <a:latin typeface="Cambria"/>
                <a:cs typeface="Cambria"/>
              </a:rPr>
              <a:t> </a:t>
            </a:r>
            <a:r>
              <a:rPr dirty="0" sz="2900" spc="110" b="0">
                <a:latin typeface="Cambria"/>
                <a:cs typeface="Cambria"/>
              </a:rPr>
              <a:t>Startup</a:t>
            </a:r>
            <a:r>
              <a:rPr dirty="0" sz="2900" spc="135" b="0">
                <a:latin typeface="Cambria"/>
                <a:cs typeface="Cambria"/>
              </a:rPr>
              <a:t> </a:t>
            </a:r>
            <a:r>
              <a:rPr dirty="0" sz="2900" spc="80" b="0">
                <a:latin typeface="Cambria"/>
                <a:cs typeface="Cambria"/>
              </a:rPr>
              <a:t>Blueprint</a:t>
            </a:r>
            <a:r>
              <a:rPr dirty="0" sz="2900" spc="70" b="0">
                <a:latin typeface="Cambria"/>
                <a:cs typeface="Cambria"/>
              </a:rPr>
              <a:t> </a:t>
            </a:r>
            <a:r>
              <a:rPr dirty="0" sz="2900" spc="65" b="0">
                <a:latin typeface="Cambria"/>
                <a:cs typeface="Cambria"/>
              </a:rPr>
              <a:t>Generator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0" y="4104322"/>
            <a:ext cx="9812655" cy="672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2530"/>
              </a:lnSpc>
              <a:spcBef>
                <a:spcPts val="125"/>
              </a:spcBef>
            </a:pPr>
            <a:r>
              <a:rPr dirty="0" sz="2150" spc="75" b="1" i="1">
                <a:solidFill>
                  <a:srgbClr val="585858"/>
                </a:solidFill>
                <a:latin typeface="Trebuchet MS"/>
                <a:cs typeface="Trebuchet MS"/>
              </a:rPr>
              <a:t>“</a:t>
            </a:r>
            <a:r>
              <a:rPr dirty="0" sz="2150" spc="75">
                <a:solidFill>
                  <a:srgbClr val="585858"/>
                </a:solidFill>
                <a:latin typeface="Cambria"/>
                <a:cs typeface="Cambria"/>
              </a:rPr>
              <a:t>Transforming</a:t>
            </a:r>
            <a:r>
              <a:rPr dirty="0" sz="2150" spc="18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startup</a:t>
            </a:r>
            <a:r>
              <a:rPr dirty="0" sz="2150" spc="17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5">
                <a:solidFill>
                  <a:srgbClr val="585858"/>
                </a:solidFill>
                <a:latin typeface="Cambria"/>
                <a:cs typeface="Cambria"/>
              </a:rPr>
              <a:t>ideas</a:t>
            </a:r>
            <a:r>
              <a:rPr dirty="0" sz="2150" spc="19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75">
                <a:solidFill>
                  <a:srgbClr val="585858"/>
                </a:solidFill>
                <a:latin typeface="Cambria"/>
                <a:cs typeface="Cambria"/>
              </a:rPr>
              <a:t>into</a:t>
            </a:r>
            <a:r>
              <a:rPr dirty="0" sz="2150" spc="18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80">
                <a:solidFill>
                  <a:srgbClr val="585858"/>
                </a:solidFill>
                <a:latin typeface="Cambria"/>
                <a:cs typeface="Cambria"/>
              </a:rPr>
              <a:t>actionable</a:t>
            </a:r>
            <a:r>
              <a:rPr dirty="0" sz="2150" spc="254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business</a:t>
            </a:r>
            <a:r>
              <a:rPr dirty="0" sz="2150" spc="18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blueprints</a:t>
            </a:r>
            <a:r>
              <a:rPr dirty="0" sz="2150" spc="19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dirty="0" sz="2150" spc="24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220">
                <a:solidFill>
                  <a:srgbClr val="585858"/>
                </a:solidFill>
                <a:latin typeface="Cambria"/>
                <a:cs typeface="Cambria"/>
              </a:rPr>
              <a:t>IBM</a:t>
            </a:r>
            <a:endParaRPr sz="2150">
              <a:latin typeface="Cambria"/>
              <a:cs typeface="Cambria"/>
            </a:endParaRPr>
          </a:p>
          <a:p>
            <a:pPr algn="ctr" marL="20955">
              <a:lnSpc>
                <a:spcPts val="2530"/>
              </a:lnSpc>
            </a:pPr>
            <a:r>
              <a:rPr dirty="0" sz="2150" spc="90">
                <a:solidFill>
                  <a:srgbClr val="585858"/>
                </a:solidFill>
                <a:latin typeface="Cambria"/>
                <a:cs typeface="Cambria"/>
              </a:rPr>
              <a:t>watsonx</a:t>
            </a:r>
            <a:r>
              <a:rPr dirty="0" sz="2150" spc="10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200">
                <a:solidFill>
                  <a:srgbClr val="585858"/>
                </a:solidFill>
                <a:latin typeface="Cambria"/>
                <a:cs typeface="Cambria"/>
              </a:rPr>
              <a:t>AI</a:t>
            </a:r>
            <a:r>
              <a:rPr dirty="0" sz="2150" spc="22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dirty="0" sz="2150" spc="22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45">
                <a:solidFill>
                  <a:srgbClr val="585858"/>
                </a:solidFill>
                <a:latin typeface="Cambria"/>
                <a:cs typeface="Cambria"/>
              </a:rPr>
              <a:t>Granite</a:t>
            </a:r>
            <a:r>
              <a:rPr dirty="0" sz="2150" spc="175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114">
                <a:solidFill>
                  <a:srgbClr val="585858"/>
                </a:solidFill>
                <a:latin typeface="Cambria"/>
                <a:cs typeface="Cambria"/>
              </a:rPr>
              <a:t>Foundation</a:t>
            </a:r>
            <a:r>
              <a:rPr dirty="0" sz="2150" spc="15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dirty="0" sz="2150" spc="55">
                <a:solidFill>
                  <a:srgbClr val="585858"/>
                </a:solidFill>
                <a:latin typeface="Cambria"/>
                <a:cs typeface="Cambria"/>
              </a:rPr>
              <a:t>Models</a:t>
            </a:r>
            <a:r>
              <a:rPr dirty="0" sz="2150" spc="55" b="1" i="1">
                <a:solidFill>
                  <a:srgbClr val="585858"/>
                </a:solidFill>
                <a:latin typeface="Trebuchet MS"/>
                <a:cs typeface="Trebuchet MS"/>
              </a:rPr>
              <a:t>”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92860" y="2593975"/>
          <a:ext cx="9484360" cy="216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20"/>
                <a:gridCol w="2443480"/>
                <a:gridCol w="2443479"/>
                <a:gridCol w="2443479"/>
              </a:tblGrid>
              <a:tr h="972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Name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6465" marR="363855" indent="-546735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 Passport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Photo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Email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7540" marR="448945" indent="-165100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number [WhatsApp]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>
                          <a:latin typeface="Arial MT"/>
                          <a:cs typeface="Arial MT"/>
                        </a:rPr>
                        <a:t>SUBITSHA</a:t>
                      </a:r>
                      <a:r>
                        <a:rPr dirty="0" sz="15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50" spc="-50">
                          <a:latin typeface="Arial MT"/>
                          <a:cs typeface="Arial MT"/>
                        </a:rPr>
                        <a:t>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ct val="100000"/>
                        </a:lnSpc>
                      </a:pPr>
                      <a:r>
                        <a:rPr dirty="0" sz="1550" spc="-10">
                          <a:latin typeface="Arial MT"/>
                          <a:cs typeface="Arial MT"/>
                          <a:hlinkClick r:id="rId2"/>
                        </a:rPr>
                        <a:t>Subitsha04@gmail.com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 descr="A person with long hair wearing glasses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3695700"/>
            <a:ext cx="933450" cy="942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5875" y="1486598"/>
            <a:ext cx="8165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Domain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5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Entrepreneurship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/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Business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248" rIns="0" bIns="0" rtlCol="0" vert="horz">
            <a:spAutoFit/>
          </a:bodyPr>
          <a:lstStyle/>
          <a:p>
            <a:pPr marL="817244">
              <a:lnSpc>
                <a:spcPct val="100000"/>
              </a:lnSpc>
              <a:spcBef>
                <a:spcPts val="105"/>
              </a:spcBef>
            </a:pPr>
            <a:r>
              <a:rPr dirty="0" sz="2400"/>
              <a:t>Project</a:t>
            </a:r>
            <a:r>
              <a:rPr dirty="0" sz="2400" spc="-55"/>
              <a:t> </a:t>
            </a:r>
            <a:r>
              <a:rPr dirty="0" sz="2400"/>
              <a:t>Tile</a:t>
            </a:r>
            <a:r>
              <a:rPr dirty="0" sz="2400" spc="-40"/>
              <a:t> </a:t>
            </a:r>
            <a:r>
              <a:rPr dirty="0" sz="2400"/>
              <a:t>–</a:t>
            </a:r>
            <a:r>
              <a:rPr dirty="0" sz="2400" spc="-15"/>
              <a:t> </a:t>
            </a:r>
            <a:r>
              <a:rPr dirty="0" sz="2400" b="0">
                <a:latin typeface="Arial MT"/>
                <a:cs typeface="Arial MT"/>
              </a:rPr>
              <a:t>VenturePilot</a:t>
            </a:r>
            <a:r>
              <a:rPr dirty="0" sz="2400" spc="-3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AI</a:t>
            </a:r>
            <a:r>
              <a:rPr dirty="0" sz="2400" spc="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–</a:t>
            </a:r>
            <a:r>
              <a:rPr dirty="0" sz="2400" spc="-15" b="0">
                <a:latin typeface="Arial MT"/>
                <a:cs typeface="Arial MT"/>
              </a:rPr>
              <a:t> </a:t>
            </a:r>
            <a:r>
              <a:rPr dirty="0" sz="2400" spc="-10" b="0">
                <a:latin typeface="Arial MT"/>
                <a:cs typeface="Arial MT"/>
              </a:rPr>
              <a:t>AI-</a:t>
            </a:r>
            <a:r>
              <a:rPr dirty="0" sz="2400" b="0">
                <a:latin typeface="Arial MT"/>
                <a:cs typeface="Arial MT"/>
              </a:rPr>
              <a:t>Powered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Startup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Blueprint</a:t>
            </a:r>
            <a:r>
              <a:rPr dirty="0" sz="2400" spc="45" b="0">
                <a:latin typeface="Arial MT"/>
                <a:cs typeface="Arial MT"/>
              </a:rPr>
              <a:t> </a:t>
            </a:r>
            <a:r>
              <a:rPr dirty="0" sz="2400" spc="-10" b="0">
                <a:latin typeface="Arial MT"/>
                <a:cs typeface="Arial MT"/>
              </a:rPr>
              <a:t>Generator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509" y="1448752"/>
            <a:ext cx="10525125" cy="4302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-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 Generator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Challenge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powered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(Retrieval-</a:t>
            </a:r>
            <a:r>
              <a:rPr dirty="0" sz="2000">
                <a:latin typeface="Arial MT"/>
                <a:cs typeface="Arial MT"/>
              </a:rPr>
              <a:t>Augmented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Generation),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transforms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raw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complete,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actionable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business </a:t>
            </a:r>
            <a:r>
              <a:rPr dirty="0" sz="2000">
                <a:latin typeface="Arial MT"/>
                <a:cs typeface="Arial MT"/>
              </a:rPr>
              <a:t>blueprints.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retrieves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relevant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research,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options,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competitor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analysis, </a:t>
            </a:r>
            <a:r>
              <a:rPr dirty="0" sz="2000">
                <a:latin typeface="Arial MT"/>
                <a:cs typeface="Arial MT"/>
              </a:rPr>
              <a:t>revenue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government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schemes,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legal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requirements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portals,</a:t>
            </a:r>
            <a:r>
              <a:rPr dirty="0" sz="2000" spc="5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incubator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databases,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policy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documents.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describe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their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simple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terms,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including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canvas,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estimated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budget, go-to-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strategy,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potential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investor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connections.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eliminates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ambiguity</a:t>
            </a:r>
            <a:r>
              <a:rPr dirty="0" sz="2000" spc="5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accelerates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journey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implementation.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driven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assistant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empowers </a:t>
            </a:r>
            <a:r>
              <a:rPr dirty="0" sz="2000">
                <a:latin typeface="Arial MT"/>
                <a:cs typeface="Arial MT"/>
              </a:rPr>
              <a:t>aspiring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 with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clarity,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resources,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direction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launch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their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ventures successfully.</a:t>
            </a:r>
            <a:endParaRPr sz="2000">
              <a:latin typeface="Arial MT"/>
              <a:cs typeface="Arial MT"/>
            </a:endParaRPr>
          </a:p>
          <a:p>
            <a:pPr marL="12700" marR="231775">
              <a:lnSpc>
                <a:spcPct val="100000"/>
              </a:lnSpc>
              <a:spcBef>
                <a:spcPts val="35"/>
              </a:spcBef>
            </a:pPr>
            <a:r>
              <a:rPr dirty="0" sz="2000">
                <a:latin typeface="Arial MT"/>
                <a:cs typeface="Arial MT"/>
              </a:rPr>
              <a:t>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often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expensive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time-</a:t>
            </a:r>
            <a:r>
              <a:rPr dirty="0" sz="2000">
                <a:latin typeface="Arial MT"/>
                <a:cs typeface="Arial MT"/>
              </a:rPr>
              <a:t>consuming,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inaccessible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students,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early-</a:t>
            </a:r>
            <a:r>
              <a:rPr dirty="0" sz="2000" spc="-10">
                <a:latin typeface="Arial MT"/>
                <a:cs typeface="Arial MT"/>
              </a:rPr>
              <a:t>stage </a:t>
            </a:r>
            <a:r>
              <a:rPr dirty="0" sz="2000">
                <a:latin typeface="Arial MT"/>
                <a:cs typeface="Arial MT"/>
              </a:rPr>
              <a:t>entrepreneurs,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small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businesses.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4509" y="561657"/>
            <a:ext cx="34874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200"/>
              <a:t> </a:t>
            </a:r>
            <a:r>
              <a:rPr dirty="0"/>
              <a:t>Statement</a:t>
            </a:r>
            <a:r>
              <a:rPr dirty="0" spc="15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022" y="1252537"/>
            <a:ext cx="2021839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The</a:t>
            </a:r>
            <a:r>
              <a:rPr dirty="0" sz="2400" spc="-25"/>
              <a:t> </a:t>
            </a:r>
            <a:r>
              <a:rPr dirty="0" sz="2400" spc="-10"/>
              <a:t>Objective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61022" y="1920303"/>
            <a:ext cx="10471150" cy="33864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Arial MT"/>
                <a:cs typeface="Arial MT"/>
              </a:rPr>
              <a:t>Develop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AI-powered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assists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professional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Artificial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Intelligence.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should: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 strategy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Perform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SWOT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Suggest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opportunities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budget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estimation.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competitor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Create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go-to-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strategies.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Produce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six-</a:t>
            </a:r>
            <a:r>
              <a:rPr dirty="0" sz="2000">
                <a:latin typeface="Arial MT"/>
                <a:cs typeface="Arial MT"/>
              </a:rPr>
              <a:t>month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roadmap.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177" y="1005141"/>
            <a:ext cx="10263505" cy="525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Overview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700"/>
              </a:lnSpc>
            </a:pP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challenges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aspiring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entrepreneurs, </a:t>
            </a:r>
            <a:r>
              <a:rPr dirty="0" sz="1800" b="1">
                <a:latin typeface="Arial"/>
                <a:cs typeface="Arial"/>
              </a:rPr>
              <a:t>VenturePilot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proposed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 b="1">
                <a:latin typeface="Arial"/>
                <a:cs typeface="Arial"/>
              </a:rPr>
              <a:t>AI-</a:t>
            </a:r>
            <a:r>
              <a:rPr dirty="0" sz="1800" b="1">
                <a:latin typeface="Arial"/>
                <a:cs typeface="Arial"/>
              </a:rPr>
              <a:t>Powered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Startup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Blueprint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Agent</a:t>
            </a:r>
            <a:r>
              <a:rPr dirty="0" sz="1800">
                <a:latin typeface="Arial MT"/>
                <a:cs typeface="Arial MT"/>
              </a:rPr>
              <a:t>.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solution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combines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user-</a:t>
            </a:r>
            <a:r>
              <a:rPr dirty="0" sz="1800">
                <a:latin typeface="Arial MT"/>
                <a:cs typeface="Arial MT"/>
              </a:rPr>
              <a:t>friendly Flask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</a:t>
            </a:r>
            <a:r>
              <a:rPr dirty="0" sz="1800" spc="-20">
                <a:latin typeface="Arial MT"/>
                <a:cs typeface="Arial MT"/>
              </a:rPr>
              <a:t> with </a:t>
            </a:r>
            <a:r>
              <a:rPr dirty="0" sz="1800">
                <a:latin typeface="Arial MT"/>
                <a:cs typeface="Arial MT"/>
              </a:rPr>
              <a:t>IBM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watsonx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Granite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Foundation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 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structured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personalized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startup blueprints.</a:t>
            </a:r>
            <a:endParaRPr sz="1800">
              <a:latin typeface="Arial MT"/>
              <a:cs typeface="Arial MT"/>
            </a:endParaRPr>
          </a:p>
          <a:p>
            <a:pPr algn="just" marL="12700" marR="154305">
              <a:lnSpc>
                <a:spcPct val="100800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analyzes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prompt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engineering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techniques,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covering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strategy, financial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planning,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positioning,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implementation.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Key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Capabilities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comprehensive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blueprints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input.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ts val="213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Produce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executive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summaries 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ts val="213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Perform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SWOT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competitor</a:t>
            </a:r>
            <a:r>
              <a:rPr dirty="0" sz="1800" spc="-10">
                <a:latin typeface="Arial MT"/>
                <a:cs typeface="Arial MT"/>
              </a:rPr>
              <a:t> analysis.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Estimate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budget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funding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requirements.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Recommend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revenue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30">
                <a:latin typeface="Arial MT"/>
                <a:cs typeface="Arial MT"/>
              </a:rPr>
              <a:t>go-</a:t>
            </a:r>
            <a:r>
              <a:rPr dirty="0" sz="1800" spc="-10">
                <a:latin typeface="Arial MT"/>
                <a:cs typeface="Arial MT"/>
              </a:rPr>
              <a:t>to-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strategies.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 </a:t>
            </a:r>
            <a:r>
              <a:rPr dirty="0" sz="1800" spc="-20">
                <a:latin typeface="Arial MT"/>
                <a:cs typeface="Arial MT"/>
              </a:rPr>
              <a:t>six-</a:t>
            </a:r>
            <a:r>
              <a:rPr dirty="0" sz="1800">
                <a:latin typeface="Arial MT"/>
                <a:cs typeface="Arial MT"/>
              </a:rPr>
              <a:t>month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roadmap.</a:t>
            </a:r>
            <a:endParaRPr sz="18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 MT"/>
                <a:cs typeface="Arial MT"/>
              </a:rPr>
              <a:t>Deliver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AI-powered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guidance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interactive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application.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5319" y="357886"/>
            <a:ext cx="340677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dirty="0" spc="150"/>
              <a:t> </a:t>
            </a:r>
            <a:r>
              <a:rPr dirty="0"/>
              <a:t>Solution</a:t>
            </a:r>
            <a:r>
              <a:rPr dirty="0" spc="22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93571" y="1001077"/>
            <a:ext cx="266890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Expected</a:t>
            </a:r>
            <a:r>
              <a:rPr dirty="0" sz="2400" spc="-120"/>
              <a:t> </a:t>
            </a:r>
            <a:r>
              <a:rPr dirty="0" sz="2400" spc="-10"/>
              <a:t>Benefits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93571" y="1640141"/>
            <a:ext cx="7868284" cy="3081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2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Reduces 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planning.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Assists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entrepreneurs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data-</a:t>
            </a:r>
            <a:r>
              <a:rPr dirty="0" sz="2000">
                <a:latin typeface="Arial MT"/>
                <a:cs typeface="Arial MT"/>
              </a:rPr>
              <a:t>driven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Improves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quality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marR="412115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Makes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consulting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accessible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first-</a:t>
            </a:r>
            <a:r>
              <a:rPr dirty="0" sz="2000" spc="-20">
                <a:latin typeface="Arial MT"/>
                <a:cs typeface="Arial MT"/>
              </a:rPr>
              <a:t>time </a:t>
            </a:r>
            <a:r>
              <a:rPr dirty="0" sz="2000" spc="-10">
                <a:latin typeface="Arial MT"/>
                <a:cs typeface="Arial MT"/>
              </a:rPr>
              <a:t>entrepreneurs.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Encourages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innovation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assisted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decision-making.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113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Technology</a:t>
            </a:r>
            <a:r>
              <a:rPr dirty="0" spc="254"/>
              <a:t> </a:t>
            </a:r>
            <a:r>
              <a:rPr dirty="0" spc="-20"/>
              <a:t>Used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3135" y="1399952"/>
          <a:ext cx="9798050" cy="493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1850"/>
              </a:tblGrid>
              <a:tr h="95567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Technology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Tool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31210" algn="l"/>
                          <a:tab pos="3598545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Python</a:t>
                      </a:r>
                      <a:r>
                        <a:rPr dirty="0" sz="18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3.11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Core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programming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backend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development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9795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90"/>
                        </a:spcBef>
                        <a:tabLst>
                          <a:tab pos="3310254" algn="l"/>
                          <a:tab pos="3576954" algn="l"/>
                        </a:tabLst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Flask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Web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framework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developing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application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35654" algn="l"/>
                          <a:tab pos="3602354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HTML5,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CSS3,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JavaScript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Designing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building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interface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22954" algn="l"/>
                          <a:tab pos="36410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watsonx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AI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platform used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8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Granite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Foundation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Models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53790" marR="596265" indent="-3622675">
                        <a:lnSpc>
                          <a:spcPct val="100800"/>
                        </a:lnSpc>
                        <a:tabLst>
                          <a:tab pos="3335654" algn="l"/>
                          <a:tab pos="3602354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</a:t>
                      </a:r>
                      <a:r>
                        <a:rPr dirty="0" sz="18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Granite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Foundation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Model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Generates</a:t>
                      </a:r>
                      <a:r>
                        <a:rPr dirty="0" sz="180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AI-powered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startup</a:t>
                      </a:r>
                      <a:r>
                        <a:rPr dirty="0" sz="18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blueprints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business recommendations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22954" algn="l"/>
                          <a:tab pos="36410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IBM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Bob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AI-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assisted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dirty="0" sz="18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building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3348354" algn="l"/>
                          <a:tab pos="3679190" algn="l"/>
                        </a:tabLst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Git</a:t>
                      </a:r>
                      <a:r>
                        <a:rPr dirty="0" sz="1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8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GitHub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Version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management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080"/>
                        </a:lnSpc>
                        <a:tabLst>
                          <a:tab pos="3386454" algn="l"/>
                          <a:tab pos="3717290" algn="l"/>
                        </a:tabLst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Render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	-	Cloud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dirty="0" sz="18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deploy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web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application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12573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2" y="526986"/>
            <a:ext cx="3169285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Arial MT"/>
                <a:cs typeface="Arial MT"/>
              </a:rPr>
              <a:t>AI</a:t>
            </a:r>
            <a:r>
              <a:rPr dirty="0" spc="8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Agent</a:t>
            </a:r>
            <a:r>
              <a:rPr dirty="0" spc="12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Workflow</a:t>
            </a:r>
            <a:r>
              <a:rPr dirty="0" spc="130" b="0">
                <a:latin typeface="Arial MT"/>
                <a:cs typeface="Arial MT"/>
              </a:rPr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442" y="1404048"/>
            <a:ext cx="7955915" cy="3691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Workflow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Description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VenturePilot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follows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simple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 </a:t>
            </a:r>
            <a:r>
              <a:rPr dirty="0" sz="2000" spc="-10">
                <a:latin typeface="Arial MT"/>
                <a:cs typeface="Arial MT"/>
              </a:rPr>
              <a:t>workflow: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registers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logs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enters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details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form.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Flask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validates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processes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backend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constructs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prompt.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sent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AI.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IBM Granite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analyzes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request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blueprint.</a:t>
            </a:r>
            <a:endParaRPr sz="20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81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displayed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web</a:t>
            </a:r>
            <a:endParaRPr sz="200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interface.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2" y="301561"/>
            <a:ext cx="271970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latin typeface="Arial MT"/>
                <a:cs typeface="Arial MT"/>
              </a:rPr>
              <a:t>AI</a:t>
            </a:r>
            <a:r>
              <a:rPr dirty="0" sz="2400" spc="-2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Agent</a:t>
            </a:r>
            <a:r>
              <a:rPr dirty="0" sz="2400" spc="-50" b="0">
                <a:latin typeface="Arial MT"/>
                <a:cs typeface="Arial MT"/>
              </a:rPr>
              <a:t> </a:t>
            </a:r>
            <a:r>
              <a:rPr dirty="0" sz="2400" b="0">
                <a:latin typeface="Arial MT"/>
                <a:cs typeface="Arial MT"/>
              </a:rPr>
              <a:t>Workflow</a:t>
            </a:r>
            <a:r>
              <a:rPr dirty="0" sz="2400" spc="-65" b="0">
                <a:latin typeface="Arial MT"/>
                <a:cs typeface="Arial MT"/>
              </a:rPr>
              <a:t> </a:t>
            </a:r>
            <a:r>
              <a:rPr dirty="0" sz="2400" spc="-50"/>
              <a:t>-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8112" y="285556"/>
            <a:ext cx="2309952" cy="6527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96840" y="462597"/>
            <a:ext cx="4203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29100" y="847661"/>
            <a:ext cx="2348230" cy="929005"/>
            <a:chOff x="4229100" y="847661"/>
            <a:chExt cx="2348230" cy="9290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0650" y="847661"/>
              <a:ext cx="395287" cy="347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9100" y="1095311"/>
              <a:ext cx="2347976" cy="68103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91328" y="1288732"/>
            <a:ext cx="122936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Login/Register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29100" y="1676336"/>
            <a:ext cx="2348230" cy="929005"/>
            <a:chOff x="4229100" y="1676336"/>
            <a:chExt cx="2348230" cy="9290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0650" y="1676336"/>
              <a:ext cx="395287" cy="3476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9100" y="1914461"/>
              <a:ext cx="2347976" cy="6905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55871" y="2114867"/>
            <a:ext cx="17068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Startup</a:t>
            </a: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40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29100" y="2505011"/>
            <a:ext cx="2348230" cy="929005"/>
            <a:chOff x="4229100" y="2505011"/>
            <a:chExt cx="2348230" cy="92900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0650" y="2505011"/>
              <a:ext cx="395287" cy="3381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9100" y="2743136"/>
              <a:ext cx="2347976" cy="69056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83201" y="2941002"/>
            <a:ext cx="12528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Flask</a:t>
            </a:r>
            <a:r>
              <a:rPr dirty="0" sz="14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FFFFFF"/>
                </a:solidFill>
                <a:latin typeface="Cambria"/>
                <a:cs typeface="Cambria"/>
              </a:rPr>
              <a:t>Backend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0525" y="3324161"/>
            <a:ext cx="2453005" cy="2586355"/>
            <a:chOff x="4200525" y="3324161"/>
            <a:chExt cx="2453005" cy="258635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0650" y="3324161"/>
              <a:ext cx="395287" cy="3476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9100" y="3571811"/>
              <a:ext cx="2347976" cy="6810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0650" y="4152836"/>
              <a:ext cx="395287" cy="3476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0525" y="4390961"/>
              <a:ext cx="2452751" cy="7096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0650" y="4981638"/>
              <a:ext cx="395287" cy="3381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9100" y="5219700"/>
              <a:ext cx="2347976" cy="69056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366259" y="3767708"/>
            <a:ext cx="2080260" cy="1895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FFFF"/>
                </a:solidFill>
                <a:latin typeface="Cambria"/>
                <a:cs typeface="Cambria"/>
              </a:rPr>
              <a:t>Prompt</a:t>
            </a:r>
            <a:r>
              <a:rPr dirty="0" sz="14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45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00">
              <a:latin typeface="Cambria"/>
              <a:cs typeface="Cambria"/>
            </a:endParaRPr>
          </a:p>
          <a:p>
            <a:pPr algn="ctr" marL="6350">
              <a:lnSpc>
                <a:spcPts val="1590"/>
              </a:lnSpc>
            </a:pPr>
            <a:r>
              <a:rPr dirty="0" sz="1400" spc="155">
                <a:solidFill>
                  <a:srgbClr val="FFFFFF"/>
                </a:solidFill>
                <a:latin typeface="Cambria"/>
                <a:cs typeface="Cambria"/>
              </a:rPr>
              <a:t>IBM</a:t>
            </a:r>
            <a:r>
              <a:rPr dirty="0" sz="14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Cambria"/>
                <a:cs typeface="Cambria"/>
              </a:rPr>
              <a:t>watsonx</a:t>
            </a:r>
            <a:endParaRPr sz="1400">
              <a:latin typeface="Cambria"/>
              <a:cs typeface="Cambria"/>
            </a:endParaRPr>
          </a:p>
          <a:p>
            <a:pPr algn="ctr">
              <a:lnSpc>
                <a:spcPts val="1590"/>
              </a:lnSpc>
            </a:pPr>
            <a:r>
              <a:rPr dirty="0" sz="1400" spc="11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r>
              <a:rPr dirty="0" sz="14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(Granite</a:t>
            </a:r>
            <a:r>
              <a:rPr dirty="0" sz="14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Foundation)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400">
              <a:latin typeface="Cambria"/>
              <a:cs typeface="Cambria"/>
            </a:endParaRPr>
          </a:p>
          <a:p>
            <a:pPr algn="ctr" marL="4445">
              <a:lnSpc>
                <a:spcPct val="100000"/>
              </a:lnSpc>
            </a:pP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Startup</a:t>
            </a: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FFFFFF"/>
                </a:solidFill>
                <a:latin typeface="Cambria"/>
                <a:cs typeface="Cambria"/>
              </a:rPr>
              <a:t>Blueprint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29100" y="5800725"/>
            <a:ext cx="2348230" cy="929005"/>
            <a:chOff x="4229100" y="5800725"/>
            <a:chExt cx="2348230" cy="92900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0650" y="5800725"/>
              <a:ext cx="395287" cy="34766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9100" y="6038850"/>
              <a:ext cx="2347976" cy="69056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746878" y="6245859"/>
            <a:ext cx="13188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65">
                <a:solidFill>
                  <a:srgbClr val="FFFFFF"/>
                </a:solidFill>
                <a:latin typeface="Cambria"/>
                <a:cs typeface="Cambria"/>
              </a:rPr>
              <a:t>Display</a:t>
            </a:r>
            <a:r>
              <a:rPr dirty="0" sz="14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FFFFFF"/>
                </a:solidFill>
                <a:latin typeface="Cambria"/>
                <a:cs typeface="Cambria"/>
              </a:rPr>
              <a:t>Results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197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Architecture</a:t>
            </a:r>
            <a:r>
              <a:rPr dirty="0" spc="204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blueprint</a:t>
            </a:r>
          </a:p>
        </p:txBody>
      </p:sp>
      <p:pic>
        <p:nvPicPr>
          <p:cNvPr id="3" name="object 3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5" y="933450"/>
            <a:ext cx="8048625" cy="5743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072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Arial MT"/>
                <a:cs typeface="Arial MT"/>
              </a:rPr>
              <a:t>Key</a:t>
            </a:r>
            <a:r>
              <a:rPr dirty="0" spc="1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Features</a:t>
            </a:r>
            <a:r>
              <a:rPr dirty="0" spc="1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of</a:t>
            </a:r>
            <a:r>
              <a:rPr dirty="0" spc="1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VenturePilot</a:t>
            </a:r>
            <a:r>
              <a:rPr dirty="0" spc="17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147" y="1178242"/>
            <a:ext cx="9373870" cy="49129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1615" indent="-214629">
              <a:lnSpc>
                <a:spcPct val="100000"/>
              </a:lnSpc>
              <a:spcBef>
                <a:spcPts val="125"/>
              </a:spcBef>
              <a:buSzPct val="95000"/>
              <a:buAutoNum type="arabicPeriod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AI-</a:t>
            </a:r>
            <a:r>
              <a:rPr dirty="0" sz="2000" b="1">
                <a:latin typeface="Arial"/>
                <a:cs typeface="Arial"/>
              </a:rPr>
              <a:t>Powered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Startup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Blueprint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comprehensive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Granite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Foundation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2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Business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</a:t>
            </a:r>
            <a:r>
              <a:rPr dirty="0" sz="2000" spc="-10" b="1">
                <a:latin typeface="Arial"/>
                <a:cs typeface="Arial"/>
              </a:rPr>
              <a:t> Canvas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business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idea.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3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SWOT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Identifies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Strengths,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Weaknesses,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Opportunities,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Threats.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4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Budget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Funding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Recommendations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Estimates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initial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budget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suggests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funding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options.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5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Go-To-</a:t>
            </a:r>
            <a:r>
              <a:rPr dirty="0" sz="2000" b="1">
                <a:latin typeface="Arial"/>
                <a:cs typeface="Arial"/>
              </a:rPr>
              <a:t>Market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Strategy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marketing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customer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acquisition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strategies.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6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Six-</a:t>
            </a:r>
            <a:r>
              <a:rPr dirty="0" sz="2000" b="1">
                <a:latin typeface="Arial"/>
                <a:cs typeface="Arial"/>
              </a:rPr>
              <a:t>Month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Roadmap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step-by-</a:t>
            </a:r>
            <a:r>
              <a:rPr dirty="0" sz="2000">
                <a:latin typeface="Arial MT"/>
                <a:cs typeface="Arial MT"/>
              </a:rPr>
              <a:t>step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implementation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 startAt="7"/>
              <a:tabLst>
                <a:tab pos="221615" algn="l"/>
              </a:tabLst>
            </a:pPr>
            <a:r>
              <a:rPr dirty="0" sz="2000" b="1">
                <a:latin typeface="Arial"/>
                <a:cs typeface="Arial"/>
              </a:rPr>
              <a:t>Secure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User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Authentication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Supports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registration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login.</a:t>
            </a:r>
            <a:endParaRPr sz="2000">
              <a:latin typeface="Arial MT"/>
              <a:cs typeface="Arial MT"/>
            </a:endParaRPr>
          </a:p>
          <a:p>
            <a:pPr marL="221615" indent="-214629">
              <a:lnSpc>
                <a:spcPct val="100000"/>
              </a:lnSpc>
              <a:buSzPct val="95000"/>
              <a:buAutoNum type="arabicPeriod" startAt="8"/>
              <a:tabLst>
                <a:tab pos="221615" algn="l"/>
              </a:tabLst>
            </a:pPr>
            <a:r>
              <a:rPr dirty="0" sz="2000" spc="-10" b="1">
                <a:latin typeface="Arial"/>
                <a:cs typeface="Arial"/>
              </a:rPr>
              <a:t>Web-</a:t>
            </a:r>
            <a:r>
              <a:rPr dirty="0" sz="2000" b="1">
                <a:latin typeface="Arial"/>
                <a:cs typeface="Arial"/>
              </a:rPr>
              <a:t>Based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Accessible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modern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browser.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6" name="object 6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164" y="733425"/>
            <a:ext cx="5509260" cy="2419477"/>
          </a:xfrm>
          <a:prstGeom prst="rect">
            <a:avLst/>
          </a:prstGeom>
        </p:spPr>
      </p:pic>
      <p:pic>
        <p:nvPicPr>
          <p:cNvPr id="7" name="object 7" descr="A screenshot of a computer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2300" y="3743325"/>
            <a:ext cx="5524500" cy="2590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69485" y="3210242"/>
            <a:ext cx="28238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VenturePilot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Home</a:t>
            </a:r>
            <a:r>
              <a:rPr dirty="0" sz="1800" spc="-20">
                <a:latin typeface="Arial MT"/>
                <a:cs typeface="Arial MT"/>
              </a:rPr>
              <a:t> Page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5329" y="6495097"/>
            <a:ext cx="27451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Registration</a:t>
            </a:r>
            <a:r>
              <a:rPr dirty="0" sz="1800" spc="-10">
                <a:latin typeface="Arial MT"/>
                <a:cs typeface="Arial MT"/>
              </a:rPr>
              <a:t> Interface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6" name="object 6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125" y="600075"/>
            <a:ext cx="5514975" cy="2514600"/>
          </a:xfrm>
          <a:prstGeom prst="rect">
            <a:avLst/>
          </a:prstGeom>
        </p:spPr>
      </p:pic>
      <p:pic>
        <p:nvPicPr>
          <p:cNvPr id="7" name="object 7" descr="A screenshot of a computer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969" y="3676648"/>
            <a:ext cx="5531231" cy="26485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9945" y="3275647"/>
            <a:ext cx="16859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Dashboard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1329" y="6458584"/>
            <a:ext cx="25673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Form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517" y="3495256"/>
            <a:ext cx="80010" cy="233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45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079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Screenshots</a:t>
            </a:r>
          </a:p>
        </p:txBody>
      </p:sp>
      <p:pic>
        <p:nvPicPr>
          <p:cNvPr id="4" name="object 4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1047750"/>
            <a:ext cx="10306050" cy="48577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5115" y="6189662"/>
            <a:ext cx="31654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Generated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Blueprint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7484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Deployment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16952" y="2331466"/>
            <a:ext cx="1557655" cy="1233170"/>
            <a:chOff x="1016952" y="2331466"/>
            <a:chExt cx="1557655" cy="1233170"/>
          </a:xfrm>
        </p:grpSpPr>
        <p:sp>
          <p:nvSpPr>
            <p:cNvPr id="4" name="object 4"/>
            <p:cNvSpPr/>
            <p:nvPr/>
          </p:nvSpPr>
          <p:spPr>
            <a:xfrm>
              <a:off x="1023937" y="2338451"/>
              <a:ext cx="1543685" cy="1219200"/>
            </a:xfrm>
            <a:custGeom>
              <a:avLst/>
              <a:gdLst/>
              <a:ahLst/>
              <a:cxnLst/>
              <a:rect l="l" t="t" r="r" b="b"/>
              <a:pathLst>
                <a:path w="1543685" h="1219200">
                  <a:moveTo>
                    <a:pt x="1421193" y="0"/>
                  </a:moveTo>
                  <a:lnTo>
                    <a:pt x="121919" y="0"/>
                  </a:lnTo>
                  <a:lnTo>
                    <a:pt x="74462" y="9566"/>
                  </a:lnTo>
                  <a:lnTo>
                    <a:pt x="35709" y="35671"/>
                  </a:lnTo>
                  <a:lnTo>
                    <a:pt x="9580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80" y="1144672"/>
                  </a:lnTo>
                  <a:lnTo>
                    <a:pt x="35709" y="1183465"/>
                  </a:lnTo>
                  <a:lnTo>
                    <a:pt x="74462" y="1209613"/>
                  </a:lnTo>
                  <a:lnTo>
                    <a:pt x="121919" y="1219200"/>
                  </a:lnTo>
                  <a:lnTo>
                    <a:pt x="1421193" y="1219200"/>
                  </a:lnTo>
                  <a:lnTo>
                    <a:pt x="1468639" y="1209613"/>
                  </a:lnTo>
                  <a:lnTo>
                    <a:pt x="1507394" y="1183465"/>
                  </a:lnTo>
                  <a:lnTo>
                    <a:pt x="1533528" y="1144672"/>
                  </a:lnTo>
                  <a:lnTo>
                    <a:pt x="1543113" y="1097152"/>
                  </a:lnTo>
                  <a:lnTo>
                    <a:pt x="1543113" y="121920"/>
                  </a:lnTo>
                  <a:lnTo>
                    <a:pt x="1533528" y="74420"/>
                  </a:lnTo>
                  <a:lnTo>
                    <a:pt x="1507394" y="35671"/>
                  </a:lnTo>
                  <a:lnTo>
                    <a:pt x="1468639" y="9566"/>
                  </a:lnTo>
                  <a:lnTo>
                    <a:pt x="1421193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3937" y="2338451"/>
              <a:ext cx="1543685" cy="1219200"/>
            </a:xfrm>
            <a:custGeom>
              <a:avLst/>
              <a:gdLst/>
              <a:ahLst/>
              <a:cxnLst/>
              <a:rect l="l" t="t" r="r" b="b"/>
              <a:pathLst>
                <a:path w="1543685" h="1219200">
                  <a:moveTo>
                    <a:pt x="0" y="121920"/>
                  </a:moveTo>
                  <a:lnTo>
                    <a:pt x="9580" y="74420"/>
                  </a:lnTo>
                  <a:lnTo>
                    <a:pt x="35709" y="35671"/>
                  </a:lnTo>
                  <a:lnTo>
                    <a:pt x="74462" y="9566"/>
                  </a:lnTo>
                  <a:lnTo>
                    <a:pt x="121919" y="0"/>
                  </a:lnTo>
                  <a:lnTo>
                    <a:pt x="1421193" y="0"/>
                  </a:lnTo>
                  <a:lnTo>
                    <a:pt x="1468639" y="9566"/>
                  </a:lnTo>
                  <a:lnTo>
                    <a:pt x="1507394" y="35671"/>
                  </a:lnTo>
                  <a:lnTo>
                    <a:pt x="1533528" y="74420"/>
                  </a:lnTo>
                  <a:lnTo>
                    <a:pt x="1543113" y="121920"/>
                  </a:lnTo>
                  <a:lnTo>
                    <a:pt x="1543113" y="1097152"/>
                  </a:lnTo>
                  <a:lnTo>
                    <a:pt x="1533528" y="1144672"/>
                  </a:lnTo>
                  <a:lnTo>
                    <a:pt x="1507394" y="1183465"/>
                  </a:lnTo>
                  <a:lnTo>
                    <a:pt x="1468639" y="1209613"/>
                  </a:lnTo>
                  <a:lnTo>
                    <a:pt x="1421193" y="1219200"/>
                  </a:lnTo>
                  <a:lnTo>
                    <a:pt x="121919" y="1219200"/>
                  </a:lnTo>
                  <a:lnTo>
                    <a:pt x="74462" y="1209613"/>
                  </a:lnTo>
                  <a:lnTo>
                    <a:pt x="35709" y="1183465"/>
                  </a:lnTo>
                  <a:lnTo>
                    <a:pt x="9580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21727" y="2658173"/>
            <a:ext cx="1337945" cy="5480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71145" marR="5080" indent="-259079">
              <a:lnSpc>
                <a:spcPts val="1950"/>
              </a:lnSpc>
              <a:spcBef>
                <a:spcPts val="34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Code </a:t>
            </a: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GitHub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462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169666" y="2331466"/>
            <a:ext cx="1557020" cy="1233170"/>
            <a:chOff x="3169666" y="2331466"/>
            <a:chExt cx="1557020" cy="1233170"/>
          </a:xfrm>
        </p:grpSpPr>
        <p:sp>
          <p:nvSpPr>
            <p:cNvPr id="9" name="object 9"/>
            <p:cNvSpPr/>
            <p:nvPr/>
          </p:nvSpPr>
          <p:spPr>
            <a:xfrm>
              <a:off x="31766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129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129" y="1219200"/>
                  </a:lnTo>
                  <a:lnTo>
                    <a:pt x="1468576" y="1209613"/>
                  </a:lnTo>
                  <a:lnTo>
                    <a:pt x="1507331" y="1183465"/>
                  </a:lnTo>
                  <a:lnTo>
                    <a:pt x="1533465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5" y="74420"/>
                  </a:lnTo>
                  <a:lnTo>
                    <a:pt x="1507331" y="35671"/>
                  </a:lnTo>
                  <a:lnTo>
                    <a:pt x="1468576" y="9566"/>
                  </a:lnTo>
                  <a:lnTo>
                    <a:pt x="1421129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766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129" y="0"/>
                  </a:lnTo>
                  <a:lnTo>
                    <a:pt x="1468576" y="9566"/>
                  </a:lnTo>
                  <a:lnTo>
                    <a:pt x="1507331" y="35671"/>
                  </a:lnTo>
                  <a:lnTo>
                    <a:pt x="1533465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5" y="1144672"/>
                  </a:lnTo>
                  <a:lnTo>
                    <a:pt x="1507331" y="1183465"/>
                  </a:lnTo>
                  <a:lnTo>
                    <a:pt x="1468576" y="1209613"/>
                  </a:lnTo>
                  <a:lnTo>
                    <a:pt x="1421129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465195" y="2534348"/>
            <a:ext cx="962025" cy="7962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 indent="635">
              <a:lnSpc>
                <a:spcPts val="1950"/>
              </a:lnSpc>
              <a:spcBef>
                <a:spcPts val="340"/>
              </a:spcBef>
            </a:pPr>
            <a:r>
              <a:rPr dirty="0" sz="1800" spc="55">
                <a:solidFill>
                  <a:srgbClr val="FFFFFF"/>
                </a:solidFill>
                <a:latin typeface="Cambria"/>
                <a:cs typeface="Cambria"/>
              </a:rPr>
              <a:t>Render 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Cloud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6727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5322315" y="2331466"/>
            <a:ext cx="1557020" cy="1233170"/>
            <a:chOff x="5322315" y="2331466"/>
            <a:chExt cx="1557020" cy="1233170"/>
          </a:xfrm>
        </p:grpSpPr>
        <p:sp>
          <p:nvSpPr>
            <p:cNvPr id="14" name="object 14"/>
            <p:cNvSpPr/>
            <p:nvPr/>
          </p:nvSpPr>
          <p:spPr>
            <a:xfrm>
              <a:off x="5329300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129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129" y="1219200"/>
                  </a:lnTo>
                  <a:lnTo>
                    <a:pt x="1468576" y="1209613"/>
                  </a:lnTo>
                  <a:lnTo>
                    <a:pt x="1507331" y="1183465"/>
                  </a:lnTo>
                  <a:lnTo>
                    <a:pt x="1533465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5" y="74420"/>
                  </a:lnTo>
                  <a:lnTo>
                    <a:pt x="1507331" y="35671"/>
                  </a:lnTo>
                  <a:lnTo>
                    <a:pt x="1468576" y="9566"/>
                  </a:lnTo>
                  <a:lnTo>
                    <a:pt x="1421129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29300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129" y="0"/>
                  </a:lnTo>
                  <a:lnTo>
                    <a:pt x="1468576" y="9566"/>
                  </a:lnTo>
                  <a:lnTo>
                    <a:pt x="1507331" y="35671"/>
                  </a:lnTo>
                  <a:lnTo>
                    <a:pt x="1533465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5" y="1144672"/>
                  </a:lnTo>
                  <a:lnTo>
                    <a:pt x="1507331" y="1183465"/>
                  </a:lnTo>
                  <a:lnTo>
                    <a:pt x="1468576" y="1209613"/>
                  </a:lnTo>
                  <a:lnTo>
                    <a:pt x="1421129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461000" y="2534348"/>
            <a:ext cx="1282065" cy="7962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>
              <a:lnSpc>
                <a:spcPts val="1950"/>
              </a:lnSpc>
              <a:spcBef>
                <a:spcPts val="340"/>
              </a:spcBef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VenturePilo </a:t>
            </a: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r>
              <a:rPr dirty="0" sz="18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mbria"/>
                <a:cs typeface="Cambria"/>
              </a:rPr>
              <a:t>Web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Application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1992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7474966" y="2331466"/>
            <a:ext cx="1557020" cy="1233170"/>
            <a:chOff x="7474966" y="2331466"/>
            <a:chExt cx="1557020" cy="1233170"/>
          </a:xfrm>
        </p:grpSpPr>
        <p:sp>
          <p:nvSpPr>
            <p:cNvPr id="19" name="object 19"/>
            <p:cNvSpPr/>
            <p:nvPr/>
          </p:nvSpPr>
          <p:spPr>
            <a:xfrm>
              <a:off x="74819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002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002" y="1219200"/>
                  </a:lnTo>
                  <a:lnTo>
                    <a:pt x="1468522" y="1209613"/>
                  </a:lnTo>
                  <a:lnTo>
                    <a:pt x="1507315" y="1183465"/>
                  </a:lnTo>
                  <a:lnTo>
                    <a:pt x="1533463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3" y="74420"/>
                  </a:lnTo>
                  <a:lnTo>
                    <a:pt x="1507315" y="35671"/>
                  </a:lnTo>
                  <a:lnTo>
                    <a:pt x="1468522" y="9566"/>
                  </a:lnTo>
                  <a:lnTo>
                    <a:pt x="1421002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48195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002" y="0"/>
                  </a:lnTo>
                  <a:lnTo>
                    <a:pt x="1468522" y="9566"/>
                  </a:lnTo>
                  <a:lnTo>
                    <a:pt x="1507315" y="35671"/>
                  </a:lnTo>
                  <a:lnTo>
                    <a:pt x="1533463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3" y="1144672"/>
                  </a:lnTo>
                  <a:lnTo>
                    <a:pt x="1507315" y="1183465"/>
                  </a:lnTo>
                  <a:lnTo>
                    <a:pt x="1468522" y="1209613"/>
                  </a:lnTo>
                  <a:lnTo>
                    <a:pt x="1421002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649591" y="2410523"/>
            <a:ext cx="120904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2055"/>
              </a:lnSpc>
              <a:spcBef>
                <a:spcPts val="100"/>
              </a:spcBef>
            </a:pPr>
            <a:r>
              <a:rPr dirty="0" sz="1800" spc="160">
                <a:solidFill>
                  <a:srgbClr val="FFFFFF"/>
                </a:solidFill>
                <a:latin typeface="Cambria"/>
                <a:cs typeface="Cambria"/>
              </a:rPr>
              <a:t>IBM</a:t>
            </a:r>
            <a:endParaRPr sz="1800">
              <a:latin typeface="Cambria"/>
              <a:cs typeface="Cambria"/>
            </a:endParaRPr>
          </a:p>
          <a:p>
            <a:pPr algn="ctr" marL="12700" marR="5080">
              <a:lnSpc>
                <a:spcPts val="1950"/>
              </a:lnSpc>
              <a:spcBef>
                <a:spcPts val="135"/>
              </a:spcBef>
            </a:pP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watsonx</a:t>
            </a:r>
            <a:r>
              <a:rPr dirty="0" sz="18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AI 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(Granite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Model)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72575" y="2752725"/>
            <a:ext cx="323850" cy="381000"/>
          </a:xfrm>
          <a:custGeom>
            <a:avLst/>
            <a:gdLst/>
            <a:ahLst/>
            <a:cxnLst/>
            <a:rect l="l" t="t" r="r" b="b"/>
            <a:pathLst>
              <a:path w="323850" h="381000">
                <a:moveTo>
                  <a:pt x="161925" y="0"/>
                </a:moveTo>
                <a:lnTo>
                  <a:pt x="161925" y="76200"/>
                </a:lnTo>
                <a:lnTo>
                  <a:pt x="0" y="76200"/>
                </a:lnTo>
                <a:lnTo>
                  <a:pt x="0" y="304800"/>
                </a:lnTo>
                <a:lnTo>
                  <a:pt x="161925" y="304800"/>
                </a:lnTo>
                <a:lnTo>
                  <a:pt x="161925" y="381000"/>
                </a:lnTo>
                <a:lnTo>
                  <a:pt x="323850" y="190500"/>
                </a:lnTo>
                <a:lnTo>
                  <a:pt x="161925" y="0"/>
                </a:lnTo>
                <a:close/>
              </a:path>
            </a:pathLst>
          </a:custGeom>
          <a:solidFill>
            <a:srgbClr val="AFAFB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9627616" y="2331466"/>
            <a:ext cx="1557020" cy="1233170"/>
            <a:chOff x="9627616" y="2331466"/>
            <a:chExt cx="1557020" cy="1233170"/>
          </a:xfrm>
        </p:grpSpPr>
        <p:sp>
          <p:nvSpPr>
            <p:cNvPr id="24" name="object 24"/>
            <p:cNvSpPr/>
            <p:nvPr/>
          </p:nvSpPr>
          <p:spPr>
            <a:xfrm>
              <a:off x="963460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1421002" y="0"/>
                  </a:moveTo>
                  <a:lnTo>
                    <a:pt x="121920" y="0"/>
                  </a:lnTo>
                  <a:lnTo>
                    <a:pt x="74420" y="9566"/>
                  </a:lnTo>
                  <a:lnTo>
                    <a:pt x="35671" y="35671"/>
                  </a:lnTo>
                  <a:lnTo>
                    <a:pt x="9566" y="74420"/>
                  </a:lnTo>
                  <a:lnTo>
                    <a:pt x="0" y="121920"/>
                  </a:lnTo>
                  <a:lnTo>
                    <a:pt x="0" y="1097152"/>
                  </a:lnTo>
                  <a:lnTo>
                    <a:pt x="9566" y="1144672"/>
                  </a:lnTo>
                  <a:lnTo>
                    <a:pt x="35671" y="1183465"/>
                  </a:lnTo>
                  <a:lnTo>
                    <a:pt x="74420" y="1209613"/>
                  </a:lnTo>
                  <a:lnTo>
                    <a:pt x="121920" y="1219200"/>
                  </a:lnTo>
                  <a:lnTo>
                    <a:pt x="1421002" y="1219200"/>
                  </a:lnTo>
                  <a:lnTo>
                    <a:pt x="1468522" y="1209613"/>
                  </a:lnTo>
                  <a:lnTo>
                    <a:pt x="1507315" y="1183465"/>
                  </a:lnTo>
                  <a:lnTo>
                    <a:pt x="1533463" y="1144672"/>
                  </a:lnTo>
                  <a:lnTo>
                    <a:pt x="1543050" y="1097152"/>
                  </a:lnTo>
                  <a:lnTo>
                    <a:pt x="1543050" y="121920"/>
                  </a:lnTo>
                  <a:lnTo>
                    <a:pt x="1533463" y="74420"/>
                  </a:lnTo>
                  <a:lnTo>
                    <a:pt x="1507315" y="35671"/>
                  </a:lnTo>
                  <a:lnTo>
                    <a:pt x="1468522" y="9566"/>
                  </a:lnTo>
                  <a:lnTo>
                    <a:pt x="1421002" y="0"/>
                  </a:lnTo>
                  <a:close/>
                </a:path>
              </a:pathLst>
            </a:custGeom>
            <a:solidFill>
              <a:srgbClr val="46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34601" y="2338451"/>
              <a:ext cx="1543050" cy="1219200"/>
            </a:xfrm>
            <a:custGeom>
              <a:avLst/>
              <a:gdLst/>
              <a:ahLst/>
              <a:cxnLst/>
              <a:rect l="l" t="t" r="r" b="b"/>
              <a:pathLst>
                <a:path w="1543050" h="1219200">
                  <a:moveTo>
                    <a:pt x="0" y="121920"/>
                  </a:moveTo>
                  <a:lnTo>
                    <a:pt x="9566" y="74420"/>
                  </a:lnTo>
                  <a:lnTo>
                    <a:pt x="35671" y="35671"/>
                  </a:lnTo>
                  <a:lnTo>
                    <a:pt x="74420" y="9566"/>
                  </a:lnTo>
                  <a:lnTo>
                    <a:pt x="121920" y="0"/>
                  </a:lnTo>
                  <a:lnTo>
                    <a:pt x="1421002" y="0"/>
                  </a:lnTo>
                  <a:lnTo>
                    <a:pt x="1468522" y="9566"/>
                  </a:lnTo>
                  <a:lnTo>
                    <a:pt x="1507315" y="35671"/>
                  </a:lnTo>
                  <a:lnTo>
                    <a:pt x="1533463" y="74420"/>
                  </a:lnTo>
                  <a:lnTo>
                    <a:pt x="1543050" y="121920"/>
                  </a:lnTo>
                  <a:lnTo>
                    <a:pt x="1543050" y="1097152"/>
                  </a:lnTo>
                  <a:lnTo>
                    <a:pt x="1533463" y="1144672"/>
                  </a:lnTo>
                  <a:lnTo>
                    <a:pt x="1507315" y="1183465"/>
                  </a:lnTo>
                  <a:lnTo>
                    <a:pt x="1468522" y="1209613"/>
                  </a:lnTo>
                  <a:lnTo>
                    <a:pt x="1421002" y="1219200"/>
                  </a:lnTo>
                  <a:lnTo>
                    <a:pt x="121920" y="1219200"/>
                  </a:lnTo>
                  <a:lnTo>
                    <a:pt x="74420" y="1209613"/>
                  </a:lnTo>
                  <a:lnTo>
                    <a:pt x="35671" y="1183465"/>
                  </a:lnTo>
                  <a:lnTo>
                    <a:pt x="9566" y="1144672"/>
                  </a:lnTo>
                  <a:lnTo>
                    <a:pt x="0" y="1097152"/>
                  </a:lnTo>
                  <a:lnTo>
                    <a:pt x="0" y="121920"/>
                  </a:lnTo>
                  <a:close/>
                </a:path>
              </a:pathLst>
            </a:custGeom>
            <a:ln w="13970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842500" y="2410523"/>
            <a:ext cx="113792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55"/>
              </a:lnSpc>
              <a:spcBef>
                <a:spcPts val="100"/>
              </a:spcBef>
            </a:pP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AI</a:t>
            </a:r>
            <a:endParaRPr sz="1800">
              <a:latin typeface="Cambria"/>
              <a:cs typeface="Cambria"/>
            </a:endParaRPr>
          </a:p>
          <a:p>
            <a:pPr algn="ctr" marL="12700" marR="5080">
              <a:lnSpc>
                <a:spcPts val="1950"/>
              </a:lnSpc>
              <a:spcBef>
                <a:spcPts val="135"/>
              </a:spcBef>
            </a:pPr>
            <a:r>
              <a:rPr dirty="0" sz="1800" spc="70">
                <a:solidFill>
                  <a:srgbClr val="FFFFFF"/>
                </a:solidFill>
                <a:latin typeface="Cambria"/>
                <a:cs typeface="Cambria"/>
              </a:rPr>
              <a:t>Generated </a:t>
            </a:r>
            <a:r>
              <a:rPr dirty="0" sz="1800" spc="80">
                <a:solidFill>
                  <a:srgbClr val="FFFFFF"/>
                </a:solidFill>
                <a:latin typeface="Cambria"/>
                <a:cs typeface="Cambria"/>
              </a:rPr>
              <a:t>Startup </a:t>
            </a:r>
            <a:r>
              <a:rPr dirty="0" sz="1800" spc="65">
                <a:solidFill>
                  <a:srgbClr val="FFFFFF"/>
                </a:solidFill>
                <a:latin typeface="Cambria"/>
                <a:cs typeface="Cambria"/>
              </a:rPr>
              <a:t>Blueprint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5980" y="4365942"/>
            <a:ext cx="4826635" cy="1126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Live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Demo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https://venturepilot</a:t>
            </a: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dirty="0" u="sng" sz="240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ai.onrender.com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06817" y="932116"/>
            <a:ext cx="213741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Git</a:t>
            </a:r>
            <a:r>
              <a:rPr dirty="0" spc="85"/>
              <a:t> </a:t>
            </a:r>
            <a:r>
              <a:rPr dirty="0"/>
              <a:t>Hub</a:t>
            </a:r>
            <a:r>
              <a:rPr dirty="0" spc="65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2700337"/>
            <a:ext cx="8373109" cy="1068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89940">
              <a:lnSpc>
                <a:spcPct val="100000"/>
              </a:lnSpc>
              <a:spcBef>
                <a:spcPts val="125"/>
              </a:spcBef>
            </a:pPr>
            <a:r>
              <a:rPr dirty="0" u="sng" sz="275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https://github.com/subitshaND/venturepilot</a:t>
            </a:r>
            <a:r>
              <a:rPr dirty="0" u="sng" sz="275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dirty="0" u="sng" sz="2750" spc="-1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Arial MT"/>
                <a:cs typeface="Arial MT"/>
                <a:hlinkClick r:id="rId2"/>
              </a:rPr>
              <a:t>ai.git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6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64" rIns="0" bIns="0" rtlCol="0" vert="horz">
            <a:spAutoFit/>
          </a:bodyPr>
          <a:lstStyle/>
          <a:p>
            <a:pPr marL="694690">
              <a:lnSpc>
                <a:spcPct val="100000"/>
              </a:lnSpc>
              <a:spcBef>
                <a:spcPts val="130"/>
              </a:spcBef>
            </a:pPr>
            <a:r>
              <a:rPr dirty="0"/>
              <a:t>Challenges</a:t>
            </a:r>
            <a:r>
              <a:rPr dirty="0" spc="145"/>
              <a:t> </a:t>
            </a:r>
            <a:r>
              <a:rPr dirty="0"/>
              <a:t>Faced</a:t>
            </a:r>
            <a:r>
              <a:rPr dirty="0" spc="140"/>
              <a:t> </a:t>
            </a:r>
            <a:r>
              <a:rPr dirty="0"/>
              <a:t>&amp;</a:t>
            </a:r>
            <a:r>
              <a:rPr dirty="0" spc="215"/>
              <a:t> </a:t>
            </a:r>
            <a:r>
              <a:rPr dirty="0" spc="-1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1133157"/>
            <a:ext cx="6885305" cy="1860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Arial"/>
                <a:cs typeface="Arial"/>
              </a:rPr>
              <a:t>Challenges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Faced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Integrating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Flask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application.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Optimizing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accurate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blueprints.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Resolving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deployment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dependency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issues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Render.</a:t>
            </a:r>
            <a:endParaRPr sz="20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 sz="2000">
                <a:latin typeface="Arial MT"/>
                <a:cs typeface="Arial MT"/>
              </a:rPr>
              <a:t>Securing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keys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environment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variables.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3269678"/>
            <a:ext cx="118999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latin typeface="Arial"/>
                <a:cs typeface="Arial"/>
              </a:rPr>
              <a:t>Solutions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517" y="3329436"/>
            <a:ext cx="8606790" cy="210629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110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Configured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SDK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credentials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correctly.</a:t>
            </a:r>
            <a:endParaRPr sz="2000">
              <a:latin typeface="Arial MT"/>
              <a:cs typeface="Arial MT"/>
            </a:endParaRPr>
          </a:p>
          <a:p>
            <a:pPr marL="285750" indent="-285750">
              <a:lnSpc>
                <a:spcPts val="2365"/>
              </a:lnSpc>
              <a:spcBef>
                <a:spcPts val="5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Improved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prompt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engineering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better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ts val="2365"/>
              </a:lnSpc>
              <a:tabLst>
                <a:tab pos="285750" algn="l"/>
              </a:tabLst>
            </a:pPr>
            <a:r>
              <a:rPr dirty="0" baseline="1501" sz="2775" spc="-1005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r>
              <a:rPr dirty="0" sz="2000" spc="-50">
                <a:latin typeface="Arial MT"/>
                <a:cs typeface="Arial MT"/>
              </a:rPr>
              <a:t>•</a:t>
            </a:r>
            <a:r>
              <a:rPr dirty="0" sz="2000">
                <a:latin typeface="Arial MT"/>
                <a:cs typeface="Arial MT"/>
              </a:rPr>
              <a:t>	Updated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Consolas"/>
                <a:cs typeface="Consolas"/>
              </a:rPr>
              <a:t>requirements.txt</a:t>
            </a:r>
            <a:r>
              <a:rPr dirty="0" sz="2000" spc="-525">
                <a:latin typeface="Consolas"/>
                <a:cs typeface="Consolas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Python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3.11.</a:t>
            </a:r>
            <a:endParaRPr sz="2000">
              <a:latin typeface="Arial MT"/>
              <a:cs typeface="Arial MT"/>
            </a:endParaRPr>
          </a:p>
          <a:p>
            <a:pPr marL="285750" marR="5080" indent="-286385">
              <a:lnSpc>
                <a:spcPct val="100000"/>
              </a:lnSpc>
              <a:spcBef>
                <a:spcPts val="80"/>
              </a:spcBef>
              <a:buChar char="•"/>
              <a:tabLst>
                <a:tab pos="285750" algn="l"/>
              </a:tabLst>
            </a:pPr>
            <a:r>
              <a:rPr dirty="0" sz="2000">
                <a:latin typeface="Arial MT"/>
                <a:cs typeface="Arial MT"/>
              </a:rPr>
              <a:t>Successfully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deployed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Render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secure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environment variables.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64" rIns="0" bIns="0" rtlCol="0" vert="horz">
            <a:spAutoFit/>
          </a:bodyPr>
          <a:lstStyle/>
          <a:p>
            <a:pPr marL="694690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dirty="0" spc="17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8717" y="1506537"/>
            <a:ext cx="8963660" cy="2165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6550" marR="375920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Multi-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language</a:t>
            </a:r>
            <a:r>
              <a:rPr dirty="0" sz="2000" spc="-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Enable users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to generate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startup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blueprints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2B3541"/>
                </a:solidFill>
                <a:latin typeface="Arial MT"/>
                <a:cs typeface="Arial MT"/>
              </a:rPr>
              <a:t>in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multiple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languages.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36550" indent="-28575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Financial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Forecasting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Add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AI-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powered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revenue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expense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predictions.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336550" indent="-28575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365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Market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Trend</a:t>
            </a:r>
            <a:r>
              <a:rPr dirty="0" sz="2000" spc="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Analysis</a:t>
            </a:r>
            <a:r>
              <a:rPr dirty="0" sz="2000" spc="-6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Integrate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real-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time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market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insights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better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tabLst>
                <a:tab pos="336550" algn="l"/>
              </a:tabLst>
            </a:pPr>
            <a:r>
              <a:rPr dirty="0" baseline="-24024" sz="2775" spc="-75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r>
              <a:rPr dirty="0" baseline="-24024" sz="2775">
                <a:solidFill>
                  <a:srgbClr val="2B3541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business</a:t>
            </a:r>
            <a:r>
              <a:rPr dirty="0" sz="2000" spc="-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decisions.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3948112"/>
            <a:ext cx="786765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Mobile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Application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Develop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Android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2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iOS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versions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easier accessibility.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4416212"/>
            <a:ext cx="8696325" cy="10877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98450" marR="5080" indent="-28638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Investor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Pitch</a:t>
            </a:r>
            <a:r>
              <a:rPr dirty="0" sz="2000" spc="-3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Deck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Generation</a:t>
            </a:r>
            <a:r>
              <a:rPr dirty="0" sz="2000" spc="-6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Automatically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create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professional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pitch presentations.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6817" y="5530532"/>
            <a:ext cx="9118600" cy="8890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09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ts val="2270"/>
              </a:lnSpc>
              <a:buClr>
                <a:srgbClr val="00000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Team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Collaboration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–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Allow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multiple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users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to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collaborate</a:t>
            </a:r>
            <a:r>
              <a:rPr dirty="0" sz="2000" spc="2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on</a:t>
            </a:r>
            <a:r>
              <a:rPr dirty="0" sz="2000" spc="2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the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same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startup</a:t>
            </a:r>
            <a:endParaRPr sz="200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project.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A certificate of excellence with a qr cod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1533525"/>
            <a:ext cx="7877175" cy="43854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697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125"/>
              </a:spcBef>
            </a:pPr>
            <a:r>
              <a:rPr dirty="0"/>
              <a:t>Getting</a:t>
            </a:r>
            <a:r>
              <a:rPr dirty="0" spc="110"/>
              <a:t> </a:t>
            </a:r>
            <a:r>
              <a:rPr dirty="0"/>
              <a:t>Started</a:t>
            </a:r>
            <a:r>
              <a:rPr dirty="0" spc="120"/>
              <a:t> </a:t>
            </a:r>
            <a:r>
              <a:rPr dirty="0"/>
              <a:t>With</a:t>
            </a:r>
            <a:r>
              <a:rPr dirty="0" spc="200"/>
              <a:t> </a:t>
            </a:r>
            <a:r>
              <a:rPr dirty="0"/>
              <a:t>Artificial</a:t>
            </a:r>
            <a:r>
              <a:rPr dirty="0" spc="180"/>
              <a:t> </a:t>
            </a:r>
            <a:r>
              <a:rPr dirty="0" spc="-10"/>
              <a:t>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A certificate with a yellow ribbon and a yellow ribbo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714500"/>
            <a:ext cx="6771590" cy="39946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626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IBM</a:t>
            </a:r>
            <a:r>
              <a:rPr dirty="0" spc="105"/>
              <a:t> </a:t>
            </a:r>
            <a:r>
              <a:rPr dirty="0"/>
              <a:t>BOB</a:t>
            </a:r>
            <a:r>
              <a:rPr dirty="0" spc="40"/>
              <a:t> </a:t>
            </a:r>
            <a:r>
              <a:rPr dirty="0" spc="-10"/>
              <a:t>Certificate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20744" y="2880931"/>
            <a:ext cx="4174490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/>
              <a:t>Thank</a:t>
            </a:r>
            <a:r>
              <a:rPr dirty="0" sz="6000" spc="-20"/>
              <a:t>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2026-07-12T20:57:41Z</dcterms:created>
  <dcterms:modified xsi:type="dcterms:W3CDTF">2026-07-12T20:57:41Z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2026-07-12T00:00:00Z</vt:filetime>
  </property>
  <property fmtid="{D5CDD505-2E9C-101B-9397-08002B2CF9AE}" pid="4" name="LastSaved">
    <vt:filetime>2026-07-12T00:00:00Z</vt:filetime>
  </property>
</Properties>
</file>